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1792" y="932688"/>
            <a:ext cx="822960" cy="73152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72768" y="932688"/>
            <a:ext cx="1417320" cy="73152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9875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B1BE"/>
                </a:solidFill>
                <a:latin typeface="Aptos"/>
              </a:defRPr>
            </a:pPr>
            <a:r>
              <a:t>TECHNICAL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AFCFF"/>
                </a:solidFill>
                <a:latin typeface="Aptos Display"/>
              </a:defRPr>
            </a:pPr>
            <a:r>
              <a:t>SQL Server Meets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07792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CDDAEB"/>
                </a:solidFill>
                <a:latin typeface="Aptos"/>
              </a:defRPr>
            </a:pPr>
            <a:r>
              <a:t>Understanding Vector Search in SQL Server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834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A5B9D2"/>
                </a:solidFill>
                <a:latin typeface="Aptos"/>
              </a:defRPr>
            </a:pPr>
            <a:r>
              <a:t>Embeddings  •  Vector Search  •  RAG  •  Vector Indexing</a:t>
            </a:r>
          </a:p>
        </p:txBody>
      </p:sp>
      <p:sp>
        <p:nvSpPr>
          <p:cNvPr id="8" name="Oval 7"/>
          <p:cNvSpPr/>
          <p:nvPr/>
        </p:nvSpPr>
        <p:spPr>
          <a:xfrm>
            <a:off x="9326880" y="1554480"/>
            <a:ext cx="164592" cy="164592"/>
          </a:xfrm>
          <a:prstGeom prst="ellipse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87000" y="2240280"/>
            <a:ext cx="109728" cy="109728"/>
          </a:xfrm>
          <a:prstGeom prst="ellipse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46920" y="2971800"/>
            <a:ext cx="228600" cy="228600"/>
          </a:xfrm>
          <a:prstGeom prst="ellipse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744200" y="3337560"/>
            <a:ext cx="146304" cy="146304"/>
          </a:xfrm>
          <a:prstGeom prst="ellipse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961120" y="3931920"/>
            <a:ext cx="100584" cy="100584"/>
          </a:xfrm>
          <a:prstGeom prst="ellipse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58400" y="4617720"/>
            <a:ext cx="201168" cy="201168"/>
          </a:xfrm>
          <a:prstGeom prst="ellipse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9464040" y="1719072"/>
            <a:ext cx="914400" cy="612648"/>
          </a:xfrm>
          <a:prstGeom prst="line">
            <a:avLst/>
          </a:prstGeom>
          <a:ln w="12700">
            <a:solidFill>
              <a:srgbClr val="365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765792" y="2331720"/>
            <a:ext cx="612648" cy="758952"/>
          </a:xfrm>
          <a:prstGeom prst="line">
            <a:avLst/>
          </a:prstGeom>
          <a:ln w="12700">
            <a:solidFill>
              <a:srgbClr val="365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765792" y="3090672"/>
            <a:ext cx="1115568" cy="365760"/>
          </a:xfrm>
          <a:prstGeom prst="line">
            <a:avLst/>
          </a:prstGeom>
          <a:ln w="12700">
            <a:solidFill>
              <a:srgbClr val="365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9070848" y="3090672"/>
            <a:ext cx="694944" cy="932688"/>
          </a:xfrm>
          <a:prstGeom prst="line">
            <a:avLst/>
          </a:prstGeom>
          <a:ln w="12700">
            <a:solidFill>
              <a:srgbClr val="365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70848" y="4023360"/>
            <a:ext cx="1097280" cy="694944"/>
          </a:xfrm>
          <a:prstGeom prst="line">
            <a:avLst/>
          </a:prstGeom>
          <a:ln w="12700">
            <a:solidFill>
              <a:srgbClr val="3658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612648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829BB9"/>
                </a:solidFill>
                <a:latin typeface="Aptos"/>
              </a:defRPr>
            </a:pPr>
            <a:r>
              <a:t>Vector Search in the relational database</a:t>
            </a:r>
          </a:p>
        </p:txBody>
      </p:sp>
      <p:pic>
        <p:nvPicPr>
          <p:cNvPr id="21" name="Picture 20" descr="Geopits Global Private Limited">
            <a:extLst>
              <a:ext uri="{FF2B5EF4-FFF2-40B4-BE49-F238E27FC236}">
                <a16:creationId xmlns:a16="http://schemas.microsoft.com/office/drawing/2014/main" id="{DB3FBEDB-8990-459F-32D6-C17647CB1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365760"/>
            <a:ext cx="2962656" cy="6227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01 /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5727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55448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Why databases need AI features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98448" y="2103120"/>
            <a:ext cx="4690872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59" y="15727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55448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AI &amp; vector fundamentals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76288" y="2103120"/>
            <a:ext cx="4690871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62432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60604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LLM architecture &amp; tokenization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98448" y="3154680"/>
            <a:ext cx="4690872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59" y="262432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60604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Embeddings &amp; traditional 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76288" y="3154680"/>
            <a:ext cx="4690871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675887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57599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Vector search &amp; how it works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98448" y="4206240"/>
            <a:ext cx="4690872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09359" y="3675887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6288" y="3657599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Retrieval-Augmented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76288" y="4206240"/>
            <a:ext cx="4690871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472744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70916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SQL Server 2025 vector capabilities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98448" y="5257800"/>
            <a:ext cx="4690872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09359" y="472744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770CD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709160"/>
            <a:ext cx="46634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Indexing &amp; database comparison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76288" y="5257800"/>
            <a:ext cx="4690871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Why do databases need AI features?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A182B"/>
                </a:solidFill>
                <a:latin typeface="Aptos Display"/>
              </a:defRPr>
            </a:pPr>
            <a:r>
              <a:t>AI applications need fast access to relevant enterprise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0280"/>
            <a:ext cx="3246120" cy="1115568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505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"/>
              </a:defRPr>
            </a:pPr>
            <a:r>
              <a:t>AI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163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7584"/>
                </a:solidFill>
                <a:latin typeface="Aptos"/>
              </a:defRPr>
            </a:pPr>
            <a:r>
              <a:t>Depend 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240280"/>
            <a:ext cx="3246120" cy="1115568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4505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"/>
              </a:defRPr>
            </a:pPr>
            <a:r>
              <a:t>Enterprise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8163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7584"/>
                </a:solidFill>
                <a:latin typeface="Aptos"/>
              </a:defRPr>
            </a:pPr>
            <a:r>
              <a:t>Already lives in databases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1" y="2240280"/>
            <a:ext cx="3246120" cy="1115568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24505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"/>
              </a:defRPr>
            </a:pPr>
            <a:r>
              <a:t>AI 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8163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97584"/>
                </a:solidFill>
                <a:latin typeface="Aptos"/>
              </a:defRPr>
            </a:pPr>
            <a:r>
              <a:t>Needs relevance + 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22191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CLASSIC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461" y="3806517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rPr dirty="0"/>
              <a:t>NEW 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60"/>
            <a:ext cx="155448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361688"/>
            <a:ext cx="1408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HR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3799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251960"/>
            <a:ext cx="155448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70632" y="4361688"/>
            <a:ext cx="1408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SQL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4379976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4251960"/>
            <a:ext cx="155448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6592" y="4361688"/>
            <a:ext cx="140817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208853"/>
            <a:ext cx="4892040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rPr dirty="0"/>
              <a:t>User prompt</a:t>
            </a:r>
            <a:br>
              <a:rPr dirty="0"/>
            </a:br>
            <a:r>
              <a:rPr dirty="0"/>
              <a:t>↓</a:t>
            </a:r>
            <a:br>
              <a:rPr dirty="0"/>
            </a:br>
            <a:r>
              <a:rPr dirty="0"/>
              <a:t>AI application → relevant data →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5955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97584"/>
                </a:solidFill>
                <a:latin typeface="Aptos"/>
              </a:defRPr>
            </a:pPr>
            <a:r>
              <a:t>The shift is from manual lookup toward natural-language interaction with data.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02 /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Why vector capabilities inside existing databases?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8132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A182B"/>
                </a:solidFill>
                <a:latin typeface="Aptos"/>
              </a:defRPr>
            </a:pPr>
            <a:r>
              <a:t>A separate vector database is useful — but not every organization can easily move its existing data and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0241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rPr dirty="0"/>
              <a:t>•  Organizations may already run critical applications on SQL Server or PostgreSQL.</a:t>
            </a:r>
          </a:p>
          <a:p>
            <a:pPr>
              <a:spcAft>
                <a:spcPts val="13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rPr dirty="0"/>
              <a:t>•  Moving data to another platform can introduce additional architecture, integration, and operational complexity.</a:t>
            </a:r>
          </a:p>
          <a:p>
            <a:pPr>
              <a:spcAft>
                <a:spcPts val="13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rPr dirty="0"/>
              <a:t>•  Vector capabilities inside the existing database bring relational data and semantic retrieval closer together.</a:t>
            </a:r>
          </a:p>
          <a:p>
            <a:pPr>
              <a:spcAft>
                <a:spcPts val="1300"/>
              </a:spcAft>
              <a:defRPr sz="1700">
                <a:solidFill>
                  <a:srgbClr val="26303D"/>
                </a:solidFill>
                <a:latin typeface="Aptos"/>
              </a:defRPr>
            </a:pPr>
            <a:r>
              <a:rPr dirty="0"/>
              <a:t>•  PostgreSQL supports vector search through </a:t>
            </a:r>
            <a:r>
              <a:rPr dirty="0" err="1"/>
              <a:t>pgvector</a:t>
            </a:r>
            <a:r>
              <a:rPr dirty="0"/>
              <a:t>; SQL Server 2025 introduces native vector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623560"/>
            <a:ext cx="132588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6013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5623560"/>
            <a:ext cx="1097280" cy="310896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5660136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B1BE"/>
                </a:solidFill>
                <a:latin typeface="Aptos"/>
              </a:defRPr>
            </a:pPr>
            <a:r>
              <a:t>pgvector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623560"/>
            <a:ext cx="141732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566013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SQL Server 2025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03 /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AI &amp; vector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554480"/>
            <a:ext cx="50749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46634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Systems performing tasks associated with perception, reasoning, prediction, planning, language, or decision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50749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554480"/>
            <a:ext cx="54864" cy="160020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59" y="17373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176272"/>
            <a:ext cx="46634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Models learn patterns from data rather than being fully specified with hand-written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39"/>
            <a:ext cx="50749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520439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42231"/>
            <a:ext cx="46634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Models generate new content such as text, code, images, audio, or structured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20439"/>
            <a:ext cx="50749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3520439"/>
            <a:ext cx="54864" cy="160020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59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142231"/>
            <a:ext cx="4663440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A large language model trained to model language and generate or transform text.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03 /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LLM architecture — a simplified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8368" y="2331720"/>
            <a:ext cx="141732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76856" y="2331720"/>
            <a:ext cx="141732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0008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Tokenize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95344" y="2331720"/>
            <a:ext cx="141732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68496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Token 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13831" y="2331720"/>
            <a:ext cx="141732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86983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7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19" y="2331720"/>
            <a:ext cx="141732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1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86215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50807" y="2331720"/>
            <a:ext cx="141732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59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Probabilities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3" y="248716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69295" y="2331720"/>
            <a:ext cx="141732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42447" y="2441448"/>
            <a:ext cx="12710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A182B"/>
                </a:solidFill>
                <a:latin typeface="Aptos"/>
              </a:defRPr>
            </a:pPr>
            <a:r>
              <a:t>A prompt passes through several stages before the model produces output.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657600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303D"/>
                </a:solidFill>
                <a:latin typeface="Aptos"/>
              </a:defRPr>
            </a:pPr>
            <a:r>
              <a:t>For this seminar, the important connection is:  text → numerical representation → model processing → generated text.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" y="4892040"/>
            <a:ext cx="132588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928616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12848" y="4892040"/>
            <a:ext cx="1234440" cy="310896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212848" y="4928616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B1BE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84448" y="4892040"/>
            <a:ext cx="150876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84448" y="4928616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30368" y="4892040"/>
            <a:ext cx="1417320" cy="310896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492861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B1BE"/>
                </a:solidFill>
                <a:latin typeface="Aptos"/>
              </a:defRPr>
            </a:pPr>
            <a:r>
              <a:t>Generation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03 /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Tokenization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8132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A182B"/>
                </a:solidFill>
                <a:latin typeface="Aptos"/>
              </a:defRPr>
            </a:pPr>
            <a:r>
              <a:t>Tokenization breaks input text into smaller units that the model can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246120" cy="233172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54864" cy="233172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Tokenization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2834639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The process of breaking input text into smaller units called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246120" cy="233172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54864" cy="233172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70632"/>
            <a:ext cx="2834639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A unit of text processed by a language model.</a:t>
            </a:r>
            <a:br/>
            <a:br/>
            <a:r>
              <a:t>It can be a word, part of a word, punctuation, or another text unit.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148840"/>
            <a:ext cx="3246120" cy="233172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2148840"/>
            <a:ext cx="54864" cy="233172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Token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770632"/>
            <a:ext cx="2834639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A numerical identifier assigned to a token by the tokenizer.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02920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697584"/>
                </a:solidFill>
                <a:latin typeface="Aptos"/>
              </a:defRPr>
            </a:pPr>
            <a:r>
              <a:t>Example:  “Vector search is useful”  →  tokens  →  token IDs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04 /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Embeddings &amp;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508760"/>
            <a:ext cx="5074920" cy="155448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155448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6634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A numerical representation of data that captures its semantic characteristics.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074920" cy="155448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508760"/>
            <a:ext cx="54864" cy="155448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39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Embedding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30552"/>
            <a:ext cx="46634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A model that converts data such as text, images, or audio into numerical vectors.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74920" cy="155448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54864" cy="155448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1"/>
            <a:ext cx="46634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An ordered collection of numerical values representing data in a multidimensional space.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74720"/>
            <a:ext cx="5074920" cy="155448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3474720"/>
            <a:ext cx="54864" cy="155448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65760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096511"/>
            <a:ext cx="466344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6303D"/>
                </a:solidFill>
                <a:latin typeface="Aptos"/>
              </a:defRPr>
            </a:pPr>
            <a:r>
              <a:t>1,536 dimensions = 1,536 numerical values representing one piece of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55955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584"/>
                </a:solidFill>
                <a:latin typeface="Aptos"/>
              </a:defRPr>
            </a:pPr>
            <a:r>
              <a:t>The goal is to represent meaning in a form that mathematical similarity measures can compare.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04 /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Traditional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81328"/>
            <a:ext cx="123444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LEXICAL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490472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182B"/>
                </a:solidFill>
                <a:latin typeface="Aptos"/>
              </a:defRPr>
            </a:pPr>
            <a:r>
              <a:t>Primarily matches words, patterns, or linguistic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074920" cy="214884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4864" cy="214884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LIKE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466344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Pattern-based text matching.</a:t>
            </a:r>
            <a:br/>
            <a:br/>
            <a:r>
              <a:t>WHERE ProductDescription LIKE '%mountain bike%'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148840"/>
            <a:ext cx="5074920" cy="214884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148840"/>
            <a:ext cx="54864" cy="214884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Full-Text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70632"/>
            <a:ext cx="466344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Searches text using indexed words, phrases, and linguistic information.</a:t>
            </a:r>
            <a:br/>
            <a:br/>
            <a:r>
              <a:t>WHERE CONTAINS(ProductDescription, '"mountain bike"')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82B"/>
                </a:solidFill>
                <a:latin typeface="Aptos"/>
              </a:defRPr>
            </a:pPr>
            <a:r>
              <a:t>Keyword-oriented search asks: “Do these words or patterns match?”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04 /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31520" y="1481328"/>
            <a:ext cx="1280160" cy="310896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1790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B1BE"/>
                </a:solidFill>
                <a:latin typeface="Aptos"/>
              </a:defRPr>
            </a:pPr>
            <a:r>
              <a:t>SEMANTIC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490472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A182B"/>
                </a:solidFill>
                <a:latin typeface="Aptos"/>
              </a:defRPr>
            </a:pPr>
            <a:r>
              <a:t>Finds information based on similarity between vector representations.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Vector similarity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70632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Measures how closely two vectors represent similar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148840"/>
            <a:ext cx="54864" cy="160020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Cosine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70632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Measures the difference in direction between vectors.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14884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2148840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233172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Euclidean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770632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Measures straight-line distance between vectors.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2032" y="4160520"/>
            <a:ext cx="3246120" cy="13716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42032" y="4160520"/>
            <a:ext cx="54864" cy="137160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70632" y="434340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Dot product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4782312"/>
            <a:ext cx="283463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6303D"/>
                </a:solidFill>
                <a:latin typeface="Aptos"/>
              </a:defRPr>
            </a:pPr>
            <a:r>
              <a:t>Measures the relationship between vectors using corresponding values.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224528"/>
            <a:ext cx="49834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82B"/>
                </a:solidFill>
                <a:latin typeface="Aptos"/>
              </a:defRPr>
            </a:pPr>
            <a:r>
              <a:t>Semantic search asks:</a:t>
            </a:r>
            <a:br/>
            <a:r>
              <a:t>“Which data is mathematically closest in meaning to this query?”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05 / VECTOR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How vector search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630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A182B"/>
                </a:solidFill>
                <a:latin typeface="Aptos"/>
              </a:defRPr>
            </a:pPr>
            <a:r>
              <a:t>Semantic search focuses on intent and contextual meaning rather than only matching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627632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2532888"/>
            <a:ext cx="1481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User 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9424" y="2578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9464" y="2423160"/>
            <a:ext cx="1627632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42616" y="2532888"/>
            <a:ext cx="1481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Embedding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2423160"/>
            <a:ext cx="1627632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532888"/>
            <a:ext cx="1481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Query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2578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2423160"/>
            <a:ext cx="1627632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92824" y="2532888"/>
            <a:ext cx="1481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Vector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578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4776" y="2423160"/>
            <a:ext cx="1874519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67928" y="2532888"/>
            <a:ext cx="172821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Similarity / 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96728" y="2578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16768" y="2423160"/>
            <a:ext cx="1627632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2532888"/>
            <a:ext cx="148132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Top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77639"/>
            <a:ext cx="10241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6303D"/>
                </a:solidFill>
                <a:latin typeface="Aptos"/>
              </a:defRPr>
            </a:pPr>
            <a:r>
              <a:t>The query and stored content are represented in the same vector space, allowing similarity to be measured.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TRADITIONAL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0749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440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keyword / pattern match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4406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82B"/>
                </a:solidFill>
                <a:latin typeface="Aptos"/>
              </a:defRPr>
            </a:pPr>
            <a:r>
              <a:t>semantic similarity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06 /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813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A182B"/>
                </a:solidFill>
                <a:latin typeface="Aptos Display"/>
              </a:defRPr>
            </a:pPr>
            <a:r>
              <a:t>RAG combines retrieval with LLM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240280"/>
            <a:ext cx="6263640" cy="731520"/>
          </a:xfrm>
          <a:prstGeom prst="round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54680" y="2414016"/>
            <a:ext cx="5897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AFCFF"/>
                </a:solidFill>
                <a:latin typeface="Aptos"/>
              </a:defRPr>
            </a:pPr>
            <a:r>
              <a:t>RETRIEVAL  +  LLM GENERATION  = 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2900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Retrieve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1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Find relevant external information at query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42900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3429000"/>
            <a:ext cx="54864" cy="1600200"/>
          </a:xfrm>
          <a:prstGeom prst="rect">
            <a:avLst/>
          </a:prstGeom>
          <a:solidFill>
            <a:srgbClr val="27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Augment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050791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Provide retrieved content to the model as context.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429000"/>
            <a:ext cx="3246120" cy="1600200"/>
          </a:xfrm>
          <a:prstGeom prst="round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79" y="3429000"/>
            <a:ext cx="54864" cy="1600200"/>
          </a:xfrm>
          <a:prstGeom prst="rect">
            <a:avLst/>
          </a:prstGeom>
          <a:solidFill>
            <a:srgbClr val="277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3611880"/>
            <a:ext cx="28346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 Display"/>
              </a:defRPr>
            </a:pPr>
            <a:r>
              <a:t>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050791"/>
            <a:ext cx="2834639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6303D"/>
                </a:solidFill>
                <a:latin typeface="Aptos"/>
              </a:defRPr>
            </a:pPr>
            <a:r>
              <a:t>LLM produces an answer grounded in the supplied context.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584"/>
                </a:solidFill>
                <a:latin typeface="Aptos"/>
              </a:defRPr>
            </a:pPr>
            <a:r>
              <a:t>Useful for private company data, internal documents, knowledge bases, and changing information.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06 /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RAG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173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INGESTION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82880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9280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82B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19385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783080"/>
            <a:ext cx="182880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89280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82B"/>
                </a:solidFill>
                <a:latin typeface="Aptos"/>
              </a:defRPr>
            </a:pPr>
            <a:r>
              <a:t>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9385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783080"/>
            <a:ext cx="182880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189280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82B"/>
                </a:solidFill>
                <a:latin typeface="Aptos"/>
              </a:defRPr>
            </a:pPr>
            <a:r>
              <a:t>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7456" y="19385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783080"/>
            <a:ext cx="182880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2" y="189280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82B"/>
                </a:solidFill>
                <a:latin typeface="Aptos"/>
              </a:defRPr>
            </a:pPr>
            <a: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17736" y="193852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783080"/>
            <a:ext cx="182880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189280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A182B"/>
                </a:solidFill>
                <a:latin typeface="Aptos"/>
              </a:defRPr>
            </a:pPr>
            <a:r>
              <a:t>SQL Server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22992" y="2514600"/>
            <a:ext cx="0" cy="868680"/>
          </a:xfrm>
          <a:prstGeom prst="line">
            <a:avLst/>
          </a:prstGeom>
          <a:ln w="19050">
            <a:solidFill>
              <a:srgbClr val="2770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22992" y="277063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697584"/>
                </a:solidFill>
                <a:latin typeface="Aptos"/>
              </a:defRPr>
            </a:pPr>
            <a:r>
              <a:rPr dirty="0"/>
              <a:t>stored</a:t>
            </a:r>
            <a:br>
              <a:rPr dirty="0"/>
            </a:br>
            <a:r>
              <a:rPr dirty="0"/>
              <a:t>vectors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QUERY &amp; RETRIEVAL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56616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7588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User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3721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4368" y="3566160"/>
            <a:ext cx="182880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367588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Embedding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9744" y="3721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57216" y="3566160"/>
            <a:ext cx="173736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30368" y="3675887"/>
            <a:ext cx="15910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Query Vector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3721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78623" y="3566160"/>
            <a:ext cx="182880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51775" y="367588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Top-K Chunks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999" y="37216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91472" y="3566160"/>
            <a:ext cx="182880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64624" y="3675887"/>
            <a:ext cx="168249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0A182B"/>
                </a:solidFill>
                <a:latin typeface="Aptos"/>
              </a:defRPr>
            </a:pPr>
            <a:r>
              <a:t>LLM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834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A182B"/>
                </a:solidFill>
                <a:latin typeface="Aptos"/>
              </a:defRPr>
            </a:pPr>
            <a:r>
              <a:t>SQL Server stores and retrieves the relevant chunks; the LLM uses those chunks as context when generating the response.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07 / SQL SERVER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Native vector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4475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82B"/>
                </a:solidFill>
                <a:latin typeface="Aptos"/>
              </a:defRPr>
            </a:pPr>
            <a:r>
              <a:t>SQL Server 2025 introduces native support for vector workloads.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3154680" cy="39319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 data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3154680" cy="393192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 functions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3154680" cy="39319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3639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 distance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3154680" cy="393192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3931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69080"/>
            <a:ext cx="3154680" cy="39319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 indexes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3154680" cy="393192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AI / model 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90195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FUNCTION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901952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PURPOSE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2176272"/>
            <a:ext cx="6675120" cy="0"/>
          </a:xfrm>
          <a:prstGeom prst="line">
            <a:avLst/>
          </a:prstGeom>
          <a:ln w="889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89120" y="226771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VECTOR_DISTANCE()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26771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Calculate distance between vectors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9120" y="2743200"/>
            <a:ext cx="6675120" cy="0"/>
          </a:xfrm>
          <a:prstGeom prst="line">
            <a:avLst/>
          </a:prstGeom>
          <a:ln w="889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389120" y="2834640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VECTOR_SEARCH()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834640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Perform vector search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89120" y="3310127"/>
            <a:ext cx="6675120" cy="0"/>
          </a:xfrm>
          <a:prstGeom prst="line">
            <a:avLst/>
          </a:prstGeom>
          <a:ln w="889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89120" y="340156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VECTOR_NORM()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40156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Calculate vector norm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89120" y="3877056"/>
            <a:ext cx="6675120" cy="0"/>
          </a:xfrm>
          <a:prstGeom prst="line">
            <a:avLst/>
          </a:prstGeom>
          <a:ln w="889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389120" y="3968496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VECTOR_NORMALIZE()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39684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Normalize a vector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89120" y="4443984"/>
            <a:ext cx="6675120" cy="0"/>
          </a:xfrm>
          <a:prstGeom prst="line">
            <a:avLst/>
          </a:prstGeom>
          <a:ln w="889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389120" y="4535424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A182B"/>
                </a:solidFill>
                <a:latin typeface="Aptos"/>
              </a:defRPr>
            </a:pPr>
            <a:r>
              <a:t>VECTORPROPERTY()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4535424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6303D"/>
                </a:solidFill>
                <a:latin typeface="Aptos"/>
              </a:defRPr>
            </a:pPr>
            <a:r>
              <a:t>Get vector properties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07 / SQL SERVER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Vector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44475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A182B"/>
                </a:solidFill>
                <a:latin typeface="Aptos"/>
              </a:defRPr>
            </a:pPr>
            <a:r>
              <a:t>Why index vectors? Because comparing a query against millions of vectors can be expensive.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70CD"/>
                </a:solidFill>
                <a:latin typeface="Aptos"/>
              </a:defRPr>
            </a:pPr>
            <a:r>
              <a:t>WITHOUT VECTOR INDEX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150876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1362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7614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606040"/>
            <a:ext cx="192024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24912" y="2715768"/>
            <a:ext cx="17739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182B"/>
                </a:solidFill>
                <a:latin typeface="Aptos"/>
              </a:defRPr>
            </a:pPr>
            <a:r>
              <a:t>Compare with every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614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1508760" cy="621792"/>
          </a:xfrm>
          <a:prstGeom prst="roundRect">
            <a:avLst/>
          </a:prstGeom>
          <a:solidFill>
            <a:srgbClr val="E8F2FD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56632" y="2715768"/>
            <a:ext cx="1362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WITH VECTOR INDEX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606040"/>
            <a:ext cx="150876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715768"/>
            <a:ext cx="1362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A182B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27614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606040"/>
            <a:ext cx="1508760" cy="621792"/>
          </a:xfrm>
          <a:prstGeom prst="round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2715768"/>
            <a:ext cx="136245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A182B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27614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770C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2606040"/>
            <a:ext cx="914400" cy="621792"/>
          </a:xfrm>
          <a:prstGeom prst="roundRect">
            <a:avLst/>
          </a:prstGeom>
          <a:solidFill>
            <a:srgbClr val="E7F8F9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14432" y="2792376"/>
            <a:ext cx="795528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82B"/>
                </a:solidFill>
                <a:latin typeface="Aptos"/>
              </a:defRPr>
            </a:pPr>
            <a:r>
              <a:rPr dirty="0"/>
              <a:t>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39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0A182B"/>
                </a:solidFill>
                <a:latin typeface="Aptos"/>
              </a:defRPr>
            </a:pPr>
            <a:r>
              <a:t>SQL Server 2025 supports DiskANN-based approximate nearest-neighbor indexing.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6303D"/>
                </a:solidFill>
                <a:latin typeface="Aptos"/>
              </a:defRPr>
            </a:pPr>
            <a:r>
              <a:t>The purpose of approximate nearest-neighbor search is to efficiently identify strong candidates without requiring an exhaustive comparison with every vector.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532120"/>
            <a:ext cx="2148840" cy="310896"/>
          </a:xfrm>
          <a:prstGeom prst="roundRect">
            <a:avLst/>
          </a:prstGeom>
          <a:solidFill>
            <a:srgbClr val="E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5686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B1BE"/>
                </a:solidFill>
                <a:latin typeface="Aptos"/>
              </a:defRPr>
            </a:pPr>
            <a:r>
              <a:t>Approximate Nearest Neighbor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5532120"/>
            <a:ext cx="1417320" cy="310896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63240" y="5568696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2770CD"/>
                </a:solidFill>
                <a:latin typeface="Aptos"/>
              </a:defRPr>
            </a:pPr>
            <a:r>
              <a:t>DiskANN-based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10896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770CD"/>
                </a:solidFill>
                <a:latin typeface="Aptos"/>
              </a:defRPr>
            </a:pPr>
            <a:r>
              <a:t>08 /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1264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82B"/>
                </a:solidFill>
                <a:latin typeface="Aptos Display"/>
              </a:defRPr>
            </a:pPr>
            <a:r>
              <a:t>SQL Server 2025 vs. native 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9319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697584"/>
                </a:solidFill>
                <a:latin typeface="Aptos"/>
              </a:defRPr>
            </a:pPr>
            <a:r>
              <a:t>16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21792" y="1243584"/>
            <a:ext cx="10945368" cy="0"/>
          </a:xfrm>
          <a:prstGeom prst="line">
            <a:avLst/>
          </a:prstGeom>
          <a:ln w="1524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85800" y="1554480"/>
            <a:ext cx="2468880" cy="566928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700784"/>
            <a:ext cx="23225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554480"/>
            <a:ext cx="4160520" cy="566928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27832" y="1700784"/>
            <a:ext cx="40142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t>SQL SERVER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554480"/>
            <a:ext cx="4160520" cy="566928"/>
          </a:xfrm>
          <a:prstGeom prst="rect">
            <a:avLst/>
          </a:prstGeom>
          <a:solidFill>
            <a:srgbClr val="0A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88352" y="1700784"/>
            <a:ext cx="40142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AFCFF"/>
                </a:solidFill>
                <a:latin typeface="Aptos"/>
              </a:defRPr>
            </a:pPr>
            <a:r>
              <a:t>NATIVE VECTOR DATABASE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21408"/>
            <a:ext cx="24688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322576"/>
            <a:ext cx="22494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A182B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2121408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64408" y="2322576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Relational + Vector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2121408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24927" y="2322576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Vector-focused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871215"/>
            <a:ext cx="246888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072384"/>
            <a:ext cx="22494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A182B"/>
                </a:solidFill>
                <a:latin typeface="Aptos"/>
              </a:defRPr>
            </a:pPr>
            <a:r>
              <a:t>Data environment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2871215"/>
            <a:ext cx="416052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64408" y="3072384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Existing SQL Server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871215"/>
            <a:ext cx="416052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4927" y="3072384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Designed around vector workloads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621024"/>
            <a:ext cx="24688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" y="3822191"/>
            <a:ext cx="22494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A182B"/>
                </a:solidFill>
                <a:latin typeface="Aptos"/>
              </a:defRPr>
            </a:pPr>
            <a:r>
              <a:t>Query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4680" y="3621024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64408" y="3822191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SQL + vector capabilities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621024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24927" y="3822191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Specialized vector search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4370831"/>
            <a:ext cx="246888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" y="4571999"/>
            <a:ext cx="22494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A182B"/>
                </a:solidFill>
                <a:latin typeface="Aptos"/>
              </a:defRPr>
            </a:pPr>
            <a:r>
              <a:t>Typical fit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4680" y="4370831"/>
            <a:ext cx="416052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64408" y="4571999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Existing SQL environments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370831"/>
            <a:ext cx="4160520" cy="749808"/>
          </a:xfrm>
          <a:prstGeom prst="rect">
            <a:avLst/>
          </a:prstGeom>
          <a:solidFill>
            <a:srgbClr val="FAFCFF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24927" y="4571999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Vector-centric architectures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5120640"/>
            <a:ext cx="24688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8" y="5321807"/>
            <a:ext cx="22494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0A182B"/>
                </a:solidFill>
                <a:latin typeface="Aptos"/>
              </a:defRPr>
            </a:pPr>
            <a:r>
              <a:t>Ecosystem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54680" y="5120640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64408" y="5321807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Existing relational ecosystem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5120640"/>
            <a:ext cx="416052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24927" y="5321807"/>
            <a:ext cx="39410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0">
                <a:solidFill>
                  <a:srgbClr val="26303D"/>
                </a:solidFill>
                <a:latin typeface="Aptos"/>
              </a:defRPr>
            </a:pPr>
            <a:r>
              <a:t>Specialized vector ecosystem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48640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97584"/>
                </a:solidFill>
                <a:latin typeface="Aptos"/>
              </a:defRPr>
            </a:pPr>
            <a:r>
              <a:t>The choice depends on the existing data platform, workload, architecture, and operational requirements.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0160">
            <a:solidFill>
              <a:srgbClr val="DA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792" y="6519672"/>
            <a:ext cx="54864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697584"/>
                </a:solidFill>
                <a:latin typeface="Aptos"/>
              </a:defRPr>
            </a:pPr>
            <a:r>
              <a:t>SQL SERVER MEETS AI  •  VECTOR SEARCH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519672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1">
                <a:solidFill>
                  <a:srgbClr val="697584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AFCFF"/>
                </a:solidFill>
                <a:latin typeface="Aptos Display"/>
              </a:defRPr>
            </a:pPr>
            <a:r>
              <a:t>From relational data to semantic retrieval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719072"/>
            <a:ext cx="10817352" cy="0"/>
          </a:xfrm>
          <a:prstGeom prst="line">
            <a:avLst/>
          </a:prstGeom>
          <a:ln w="12700">
            <a:solidFill>
              <a:srgbClr val="395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205740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AFCFF"/>
                </a:solidFill>
                <a:latin typeface="Aptos"/>
              </a:defRPr>
            </a:pPr>
            <a:r>
              <a:t>AI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2057400"/>
            <a:ext cx="7406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A"/>
                </a:solidFill>
                <a:latin typeface="Aptos"/>
              </a:defRPr>
            </a:pPr>
            <a:r>
              <a:t>Need relevant enterprise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AFCFF"/>
                </a:solidFill>
                <a:latin typeface="Aptos"/>
              </a:defRPr>
            </a:pPr>
            <a: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788920"/>
            <a:ext cx="7406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A"/>
                </a:solidFill>
                <a:latin typeface="Aptos"/>
              </a:defRPr>
            </a:pPr>
            <a:r>
              <a:t>Represent meaning as vectors.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2044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AFCFF"/>
                </a:solidFill>
                <a:latin typeface="Aptos"/>
              </a:defRPr>
            </a:pPr>
            <a:r>
              <a:t>Vector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520440"/>
            <a:ext cx="7406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A"/>
                </a:solidFill>
                <a:latin typeface="Aptos"/>
              </a:defRPr>
            </a:pPr>
            <a:r>
              <a:t>Find semantically similar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25196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5196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AFCFF"/>
                </a:solidFill>
                <a:latin typeface="Aptos"/>
              </a:defRPr>
            </a:pPr>
            <a:r>
              <a:t>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4251960"/>
            <a:ext cx="7406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A"/>
                </a:solidFill>
                <a:latin typeface="Aptos"/>
              </a:defRPr>
            </a:pPr>
            <a:r>
              <a:t>Combines retrieval with LLM generation.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8348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7B1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983480"/>
            <a:ext cx="2057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AFCFF"/>
                </a:solidFill>
                <a:latin typeface="Aptos"/>
              </a:defRPr>
            </a:pPr>
            <a:r>
              <a:t>SQL Server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4983480"/>
            <a:ext cx="7406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AD8EA"/>
                </a:solidFill>
                <a:latin typeface="Aptos"/>
              </a:defRPr>
            </a:pPr>
            <a:r>
              <a:t>Brings vector capabilities into the relational database environment.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7896B9"/>
                </a:solidFill>
                <a:latin typeface="Aptos"/>
              </a:defRPr>
            </a:pPr>
            <a:r>
              <a:t>SQL SERVER MEETS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1451</TotalTime>
  <Words>1285</Words>
  <Application>Microsoft Office PowerPoint</Application>
  <PresentationFormat>Widescreen</PresentationFormat>
  <Paragraphs>303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Tharif</cp:lastModifiedBy>
  <cp:revision>5</cp:revision>
  <dcterms:created xsi:type="dcterms:W3CDTF">2013-01-27T09:14:16Z</dcterms:created>
  <dcterms:modified xsi:type="dcterms:W3CDTF">2026-09-25T13:11:19Z</dcterms:modified>
  <cp:category/>
</cp:coreProperties>
</file>